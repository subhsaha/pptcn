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$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10.1</c:v>
                </c:pt>
                <c:pt idx="2">
                  <c:v>11.2</c:v>
                </c:pt>
                <c:pt idx="3">
                  <c:v>12.6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161616"/>
            </a:solidFill>
            <a:ln w="31750" cap="flat">
              <a:solidFill>
                <a:srgbClr val="161616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1616"/>
              </a:solidFill>
              <a:ln w="9525" cap="flat">
                <a:solidFill>
                  <a:srgbClr val="1616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74</c:v>
                </c:pt>
                <c:pt idx="2">
                  <c:v>75</c:v>
                </c:pt>
                <c:pt idx="3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777777"/>
            </a:solidFill>
            <a:ln w="31750" cap="flat">
              <a:solidFill>
                <a:srgbClr val="777777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77777"/>
              </a:solidFill>
              <a:ln w="9525" cap="flat">
                <a:solidFill>
                  <a:srgbClr val="7777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sequential acceleration and the quality of recurring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727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196596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Profitable growth, by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344728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financial summary, operating leverage, and the decisions behind the numbers.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&amp; Strategy  ·  FY2026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874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performance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682496"/>
            <a:ext cx="5309464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48256"/>
            <a:ext cx="457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" y="2432304"/>
            <a:ext cx="457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$42.8M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24128" y="3145536"/>
            <a:ext cx="457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+18.4% YoY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3429000"/>
            <a:ext cx="457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$1.8M ahead of plan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23864" y="1682496"/>
            <a:ext cx="5309464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9624" y="2048256"/>
            <a:ext cx="457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9624" y="2432304"/>
            <a:ext cx="457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$32.5M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589624" y="3145536"/>
            <a:ext cx="457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+22.1% YoY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9624" y="3429000"/>
            <a:ext cx="457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 gross margin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4078224"/>
            <a:ext cx="5309464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443984"/>
            <a:ext cx="457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INCOME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4828032"/>
            <a:ext cx="457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$6.4M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1024128" y="5541264"/>
            <a:ext cx="457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+$4.2M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5824728"/>
            <a:ext cx="457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operating margin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23864" y="4078224"/>
            <a:ext cx="5309464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9624" y="4443984"/>
            <a:ext cx="457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CASH 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9624" y="4828032"/>
            <a:ext cx="457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$7.1M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6589624" y="5541264"/>
            <a:ext cx="457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+68% YoY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9624" y="5824728"/>
            <a:ext cx="457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111% cash conversion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6473952"/>
            <a:ext cx="108749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Finance · FY2026 management accounts · USD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874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accelerated through the year</a:t>
            </a:r>
            <a:endParaRPr lang="en-US" sz="2600" dirty="0"/>
          </a:p>
        </p:txBody>
      </p:sp>
      <p:graphicFrame>
        <p:nvGraphicFramePr>
          <p:cNvPr id="4" name="Chart 0" descr="Quarterly revenue rose from 8.9 million dollars in Q1 to 12.6 million dollars in Q4."/>
          <p:cNvGraphicFramePr/>
          <p:nvPr/>
        </p:nvGraphicFramePr>
        <p:xfrm>
          <a:off x="658368" y="1773936"/>
          <a:ext cx="7086600" cy="42611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5008" y="1773936"/>
            <a:ext cx="3468319" cy="4261104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9056" y="2157984"/>
            <a:ext cx="27002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49056" y="2487168"/>
            <a:ext cx="2700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exit rate matters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49056" y="3209544"/>
            <a:ext cx="27002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revenue was 42% above Q1, giving the business a stronger base for the next fiscal year.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49056" y="438912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428853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expansion drove 61% of growth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49056" y="489204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79145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quarter relied on one-time 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449056" y="539496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529437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finished 6% above plan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" y="6473952"/>
            <a:ext cx="108749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revenue ·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874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operating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792224"/>
            <a:ext cx="2174992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184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241548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1548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4197096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97096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5152644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52644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3360" y="1792224"/>
            <a:ext cx="2174992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7952" y="1792224"/>
            <a:ext cx="184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3360" y="2286000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7952" y="2286000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$8.9M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3360" y="3241548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7952" y="3241548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$10.1M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3360" y="4197096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7952" y="4197096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$11.2M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3360" y="5152644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7952" y="5152644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$12.6M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08352" y="1792224"/>
            <a:ext cx="2174992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2944" y="1792224"/>
            <a:ext cx="184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8352" y="2286000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2944" y="2286000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08352" y="3241548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2944" y="3241548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08352" y="4197096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2944" y="4197096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08352" y="5152644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2944" y="5152644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83344" y="1792224"/>
            <a:ext cx="2174992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7936" y="1792224"/>
            <a:ext cx="184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83344" y="2286000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7936" y="2286000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83344" y="3241548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7936" y="3241548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83344" y="4197096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47936" y="4197096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83344" y="5152644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47936" y="5152644"/>
            <a:ext cx="1845808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58335" y="1792224"/>
            <a:ext cx="2174992" cy="49377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22927" y="1792224"/>
            <a:ext cx="184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PLAN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358335" y="2286000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41209" y="2626614"/>
            <a:ext cx="809244" cy="274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8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32649" y="2626614"/>
            <a:ext cx="62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plan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358335" y="3241548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98359" y="3582162"/>
            <a:ext cx="694944" cy="274320"/>
          </a:xfrm>
          <a:prstGeom prst="roundRect">
            <a:avLst/>
          </a:prstGeom>
          <a:solidFill>
            <a:srgbClr val="EAEAE6"/>
          </a:solidFill>
          <a:ln w="8890">
            <a:solidFill>
              <a:srgbClr val="D8D8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89799" y="358216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Ahead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358335" y="4197096"/>
            <a:ext cx="2174992" cy="9555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98359" y="4537710"/>
            <a:ext cx="694944" cy="274320"/>
          </a:xfrm>
          <a:prstGeom prst="roundRect">
            <a:avLst/>
          </a:prstGeom>
          <a:solidFill>
            <a:srgbClr val="EAEAE6"/>
          </a:solidFill>
          <a:ln w="8890">
            <a:solidFill>
              <a:srgbClr val="D8D8D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89799" y="453771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Ahead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358335" y="5152644"/>
            <a:ext cx="2174992" cy="955548"/>
          </a:xfrm>
          <a:prstGeom prst="rect">
            <a:avLst/>
          </a:prstGeom>
          <a:solidFill>
            <a:srgbClr val="F4F4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98359" y="5493258"/>
            <a:ext cx="694944" cy="274320"/>
          </a:xfrm>
          <a:prstGeom prst="roundRect">
            <a:avLst/>
          </a:prstGeom>
          <a:solidFill>
            <a:srgbClr val="161616"/>
          </a:solidFill>
          <a:ln w="8890">
            <a:solidFill>
              <a:srgbClr val="1616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89799" y="549325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8368" y="6473952"/>
            <a:ext cx="108749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accounts ·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874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Margins expanded while investment continued</a:t>
            </a:r>
            <a:endParaRPr lang="en-US" sz="2600" dirty="0"/>
          </a:p>
        </p:txBody>
      </p:sp>
      <p:graphicFrame>
        <p:nvGraphicFramePr>
          <p:cNvPr id="4" name="Chart 0" descr="Gross margin increased from 72 to 78 percent and operating margin increased from 8 to 19 percent."/>
          <p:cNvGraphicFramePr/>
          <p:nvPr/>
        </p:nvGraphicFramePr>
        <p:xfrm>
          <a:off x="658368" y="1773936"/>
          <a:ext cx="7086600" cy="42611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5008" y="1773936"/>
            <a:ext cx="3468319" cy="4261104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9056" y="2157984"/>
            <a:ext cx="27002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49056" y="2487168"/>
            <a:ext cx="2700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is converting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49056" y="3209544"/>
            <a:ext cx="270022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and infrastructure leverage funded continued go-to-market investment without sacrificing profitability.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49056" y="438912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428853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 gained 6 points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49056" y="489204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79145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margin more than doubled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449056" y="5394960"/>
            <a:ext cx="20116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5294376"/>
            <a:ext cx="23710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Hiring remained within plan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" y="6473952"/>
            <a:ext cx="108749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 shown as percent of revenue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Financial Summary</dc:title>
  <dc:subject>Editable presentation generated with pptcn</dc:subject>
  <dc:creator>pptcn</dc:creator>
  <cp:lastModifiedBy>pptcn</cp:lastModifiedBy>
  <cp:revision>1</cp:revision>
  <dcterms:created xsi:type="dcterms:W3CDTF">2026-09-10T14:19:48Z</dcterms:created>
  <dcterms:modified xsi:type="dcterms:W3CDTF">2026-09-10T14:19:48Z</dcterms:modified>
</cp:coreProperties>
</file>